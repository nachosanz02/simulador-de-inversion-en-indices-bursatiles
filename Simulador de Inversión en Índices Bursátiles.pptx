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E8EFFC-13CC-4425-B68B-FA4B5C4FDEA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8B930E-9E7D-4D78-A7D5-265BF62EEB8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Solo 32% de los españoles afirman tener conocimientos para invertir vs 50% en Europa</a:t>
          </a:r>
          <a:endParaRPr lang="en-US"/>
        </a:p>
      </dgm:t>
    </dgm:pt>
    <dgm:pt modelId="{4A19DCA3-57BE-4C3E-9E55-2E6C819BFB36}" type="parTrans" cxnId="{F53F4E21-845A-453C-A2CA-3450011560F6}">
      <dgm:prSet/>
      <dgm:spPr/>
      <dgm:t>
        <a:bodyPr/>
        <a:lstStyle/>
        <a:p>
          <a:endParaRPr lang="en-US"/>
        </a:p>
      </dgm:t>
    </dgm:pt>
    <dgm:pt modelId="{2F3E34BB-F80A-4551-A870-5A621FC12078}" type="sibTrans" cxnId="{F53F4E21-845A-453C-A2CA-3450011560F6}">
      <dgm:prSet/>
      <dgm:spPr/>
      <dgm:t>
        <a:bodyPr/>
        <a:lstStyle/>
        <a:p>
          <a:endParaRPr lang="en-US"/>
        </a:p>
      </dgm:t>
    </dgm:pt>
    <dgm:pt modelId="{EE99620F-C3C4-4442-A1D0-8804CEB3975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12,5% invierte en bolsa</a:t>
          </a:r>
          <a:endParaRPr lang="en-US"/>
        </a:p>
      </dgm:t>
    </dgm:pt>
    <dgm:pt modelId="{05C29608-57A5-4EAD-9D43-879BF9CB0FFE}" type="parTrans" cxnId="{93AAD627-B3A9-4AF9-B7E8-4B9E5DD715AA}">
      <dgm:prSet/>
      <dgm:spPr/>
      <dgm:t>
        <a:bodyPr/>
        <a:lstStyle/>
        <a:p>
          <a:endParaRPr lang="en-US"/>
        </a:p>
      </dgm:t>
    </dgm:pt>
    <dgm:pt modelId="{3317D294-70AD-48CE-A830-61DC4CD94D51}" type="sibTrans" cxnId="{93AAD627-B3A9-4AF9-B7E8-4B9E5DD715AA}">
      <dgm:prSet/>
      <dgm:spPr/>
      <dgm:t>
        <a:bodyPr/>
        <a:lstStyle/>
        <a:p>
          <a:endParaRPr lang="en-US"/>
        </a:p>
      </dgm:t>
    </dgm:pt>
    <dgm:pt modelId="{B90440B2-1E71-49C1-947C-B9FD78A3754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&gt;60% de los inversores españoles no puede distinguir entre productos financieros ni estructurar una cartera eficiente (CNMV)</a:t>
          </a:r>
          <a:endParaRPr lang="en-US"/>
        </a:p>
      </dgm:t>
    </dgm:pt>
    <dgm:pt modelId="{F321E6BB-E0F4-4784-983E-36BF6AF55DEE}" type="parTrans" cxnId="{4DFA4F70-441A-429E-A5B5-416ABB35B547}">
      <dgm:prSet/>
      <dgm:spPr/>
      <dgm:t>
        <a:bodyPr/>
        <a:lstStyle/>
        <a:p>
          <a:endParaRPr lang="en-US"/>
        </a:p>
      </dgm:t>
    </dgm:pt>
    <dgm:pt modelId="{2FEA7416-53DD-4B19-B523-68EDC6BE2700}" type="sibTrans" cxnId="{4DFA4F70-441A-429E-A5B5-416ABB35B547}">
      <dgm:prSet/>
      <dgm:spPr/>
      <dgm:t>
        <a:bodyPr/>
        <a:lstStyle/>
        <a:p>
          <a:endParaRPr lang="en-US"/>
        </a:p>
      </dgm:t>
    </dgm:pt>
    <dgm:pt modelId="{6535B7A4-0F65-4AF1-A68B-EDC038DB9E79}" type="pres">
      <dgm:prSet presAssocID="{63E8EFFC-13CC-4425-B68B-FA4B5C4FDEAE}" presName="root" presStyleCnt="0">
        <dgm:presLayoutVars>
          <dgm:dir/>
          <dgm:resizeHandles val="exact"/>
        </dgm:presLayoutVars>
      </dgm:prSet>
      <dgm:spPr/>
    </dgm:pt>
    <dgm:pt modelId="{CC0509B9-5960-46D3-92F5-6DCF848C0DA3}" type="pres">
      <dgm:prSet presAssocID="{F58B930E-9E7D-4D78-A7D5-265BF62EEB88}" presName="compNode" presStyleCnt="0"/>
      <dgm:spPr/>
    </dgm:pt>
    <dgm:pt modelId="{3385F011-0E4A-471D-BF08-4A73FE5F99DD}" type="pres">
      <dgm:prSet presAssocID="{F58B930E-9E7D-4D78-A7D5-265BF62EEB88}" presName="iconBgRect" presStyleLbl="bgShp" presStyleIdx="0" presStyleCnt="3"/>
      <dgm:spPr/>
    </dgm:pt>
    <dgm:pt modelId="{24C81ECB-1D75-4C3A-967D-CF4EB5DC0F01}" type="pres">
      <dgm:prSet presAssocID="{F58B930E-9E7D-4D78-A7D5-265BF62EEB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EC686DD-0419-42E5-9439-9FB2F34E062B}" type="pres">
      <dgm:prSet presAssocID="{F58B930E-9E7D-4D78-A7D5-265BF62EEB88}" presName="spaceRect" presStyleCnt="0"/>
      <dgm:spPr/>
    </dgm:pt>
    <dgm:pt modelId="{D2ABFD24-0919-4A92-AEBF-D22336EBA20A}" type="pres">
      <dgm:prSet presAssocID="{F58B930E-9E7D-4D78-A7D5-265BF62EEB88}" presName="textRect" presStyleLbl="revTx" presStyleIdx="0" presStyleCnt="3">
        <dgm:presLayoutVars>
          <dgm:chMax val="1"/>
          <dgm:chPref val="1"/>
        </dgm:presLayoutVars>
      </dgm:prSet>
      <dgm:spPr/>
    </dgm:pt>
    <dgm:pt modelId="{8BAF76F3-3D3D-422C-9E0A-E45B0438A8B0}" type="pres">
      <dgm:prSet presAssocID="{2F3E34BB-F80A-4551-A870-5A621FC12078}" presName="sibTrans" presStyleCnt="0"/>
      <dgm:spPr/>
    </dgm:pt>
    <dgm:pt modelId="{7AD15730-7628-4326-B04B-EA60D4745053}" type="pres">
      <dgm:prSet presAssocID="{EE99620F-C3C4-4442-A1D0-8804CEB39758}" presName="compNode" presStyleCnt="0"/>
      <dgm:spPr/>
    </dgm:pt>
    <dgm:pt modelId="{E0FD6297-341B-41F6-BD1C-FF75BDE4AD0D}" type="pres">
      <dgm:prSet presAssocID="{EE99620F-C3C4-4442-A1D0-8804CEB39758}" presName="iconBgRect" presStyleLbl="bgShp" presStyleIdx="1" presStyleCnt="3"/>
      <dgm:spPr/>
    </dgm:pt>
    <dgm:pt modelId="{D2B94692-ACDC-4BDF-9A6C-3775EF9427DB}" type="pres">
      <dgm:prSet presAssocID="{EE99620F-C3C4-4442-A1D0-8804CEB3975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BD62938-59E7-4F5A-8F8F-9797085EFF22}" type="pres">
      <dgm:prSet presAssocID="{EE99620F-C3C4-4442-A1D0-8804CEB39758}" presName="spaceRect" presStyleCnt="0"/>
      <dgm:spPr/>
    </dgm:pt>
    <dgm:pt modelId="{2385ABCB-BB31-42AE-9927-6E73557495B2}" type="pres">
      <dgm:prSet presAssocID="{EE99620F-C3C4-4442-A1D0-8804CEB39758}" presName="textRect" presStyleLbl="revTx" presStyleIdx="1" presStyleCnt="3">
        <dgm:presLayoutVars>
          <dgm:chMax val="1"/>
          <dgm:chPref val="1"/>
        </dgm:presLayoutVars>
      </dgm:prSet>
      <dgm:spPr/>
    </dgm:pt>
    <dgm:pt modelId="{5B1C6F93-B0F8-4C28-B767-1BC702D55510}" type="pres">
      <dgm:prSet presAssocID="{3317D294-70AD-48CE-A830-61DC4CD94D51}" presName="sibTrans" presStyleCnt="0"/>
      <dgm:spPr/>
    </dgm:pt>
    <dgm:pt modelId="{799A80DD-B50C-4CB7-A7DA-8D180DE1E49E}" type="pres">
      <dgm:prSet presAssocID="{B90440B2-1E71-49C1-947C-B9FD78A37548}" presName="compNode" presStyleCnt="0"/>
      <dgm:spPr/>
    </dgm:pt>
    <dgm:pt modelId="{D0E34700-0571-429E-B206-5C4D8728BF11}" type="pres">
      <dgm:prSet presAssocID="{B90440B2-1E71-49C1-947C-B9FD78A37548}" presName="iconBgRect" presStyleLbl="bgShp" presStyleIdx="2" presStyleCnt="3"/>
      <dgm:spPr/>
    </dgm:pt>
    <dgm:pt modelId="{0884D7AD-DE7C-47C0-AA2D-11592C523CE7}" type="pres">
      <dgm:prSet presAssocID="{B90440B2-1E71-49C1-947C-B9FD78A375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795724D0-196B-4348-A9E7-0A8B26329DBB}" type="pres">
      <dgm:prSet presAssocID="{B90440B2-1E71-49C1-947C-B9FD78A37548}" presName="spaceRect" presStyleCnt="0"/>
      <dgm:spPr/>
    </dgm:pt>
    <dgm:pt modelId="{FFF1A151-8A47-4A83-812D-4B96AB83373A}" type="pres">
      <dgm:prSet presAssocID="{B90440B2-1E71-49C1-947C-B9FD78A375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6D00D03-D594-4701-8647-3CD538B20592}" type="presOf" srcId="{B90440B2-1E71-49C1-947C-B9FD78A37548}" destId="{FFF1A151-8A47-4A83-812D-4B96AB83373A}" srcOrd="0" destOrd="0" presId="urn:microsoft.com/office/officeart/2018/5/layout/IconCircleLabelList"/>
    <dgm:cxn modelId="{F3C41217-AB2E-452C-98BA-750FB4F314D1}" type="presOf" srcId="{EE99620F-C3C4-4442-A1D0-8804CEB39758}" destId="{2385ABCB-BB31-42AE-9927-6E73557495B2}" srcOrd="0" destOrd="0" presId="urn:microsoft.com/office/officeart/2018/5/layout/IconCircleLabelList"/>
    <dgm:cxn modelId="{F53F4E21-845A-453C-A2CA-3450011560F6}" srcId="{63E8EFFC-13CC-4425-B68B-FA4B5C4FDEAE}" destId="{F58B930E-9E7D-4D78-A7D5-265BF62EEB88}" srcOrd="0" destOrd="0" parTransId="{4A19DCA3-57BE-4C3E-9E55-2E6C819BFB36}" sibTransId="{2F3E34BB-F80A-4551-A870-5A621FC12078}"/>
    <dgm:cxn modelId="{93AAD627-B3A9-4AF9-B7E8-4B9E5DD715AA}" srcId="{63E8EFFC-13CC-4425-B68B-FA4B5C4FDEAE}" destId="{EE99620F-C3C4-4442-A1D0-8804CEB39758}" srcOrd="1" destOrd="0" parTransId="{05C29608-57A5-4EAD-9D43-879BF9CB0FFE}" sibTransId="{3317D294-70AD-48CE-A830-61DC4CD94D51}"/>
    <dgm:cxn modelId="{8795F441-AEE3-4C89-9913-C91448D85F02}" type="presOf" srcId="{F58B930E-9E7D-4D78-A7D5-265BF62EEB88}" destId="{D2ABFD24-0919-4A92-AEBF-D22336EBA20A}" srcOrd="0" destOrd="0" presId="urn:microsoft.com/office/officeart/2018/5/layout/IconCircleLabelList"/>
    <dgm:cxn modelId="{4DFA4F70-441A-429E-A5B5-416ABB35B547}" srcId="{63E8EFFC-13CC-4425-B68B-FA4B5C4FDEAE}" destId="{B90440B2-1E71-49C1-947C-B9FD78A37548}" srcOrd="2" destOrd="0" parTransId="{F321E6BB-E0F4-4784-983E-36BF6AF55DEE}" sibTransId="{2FEA7416-53DD-4B19-B523-68EDC6BE2700}"/>
    <dgm:cxn modelId="{827BF4E9-60CC-42A9-947C-97805B2BE942}" type="presOf" srcId="{63E8EFFC-13CC-4425-B68B-FA4B5C4FDEAE}" destId="{6535B7A4-0F65-4AF1-A68B-EDC038DB9E79}" srcOrd="0" destOrd="0" presId="urn:microsoft.com/office/officeart/2018/5/layout/IconCircleLabelList"/>
    <dgm:cxn modelId="{091889A5-D358-4849-8F56-B9CFD433A17C}" type="presParOf" srcId="{6535B7A4-0F65-4AF1-A68B-EDC038DB9E79}" destId="{CC0509B9-5960-46D3-92F5-6DCF848C0DA3}" srcOrd="0" destOrd="0" presId="urn:microsoft.com/office/officeart/2018/5/layout/IconCircleLabelList"/>
    <dgm:cxn modelId="{B2853B32-2A02-4C49-AF65-078C2E6E009B}" type="presParOf" srcId="{CC0509B9-5960-46D3-92F5-6DCF848C0DA3}" destId="{3385F011-0E4A-471D-BF08-4A73FE5F99DD}" srcOrd="0" destOrd="0" presId="urn:microsoft.com/office/officeart/2018/5/layout/IconCircleLabelList"/>
    <dgm:cxn modelId="{D68F6FBC-1870-4420-BC40-FFAF5AD54AEE}" type="presParOf" srcId="{CC0509B9-5960-46D3-92F5-6DCF848C0DA3}" destId="{24C81ECB-1D75-4C3A-967D-CF4EB5DC0F01}" srcOrd="1" destOrd="0" presId="urn:microsoft.com/office/officeart/2018/5/layout/IconCircleLabelList"/>
    <dgm:cxn modelId="{14827754-CBB1-466A-A0DD-12528DBBB3D7}" type="presParOf" srcId="{CC0509B9-5960-46D3-92F5-6DCF848C0DA3}" destId="{BEC686DD-0419-42E5-9439-9FB2F34E062B}" srcOrd="2" destOrd="0" presId="urn:microsoft.com/office/officeart/2018/5/layout/IconCircleLabelList"/>
    <dgm:cxn modelId="{BD2A44CE-93F2-4061-AEF2-7612632C2EFA}" type="presParOf" srcId="{CC0509B9-5960-46D3-92F5-6DCF848C0DA3}" destId="{D2ABFD24-0919-4A92-AEBF-D22336EBA20A}" srcOrd="3" destOrd="0" presId="urn:microsoft.com/office/officeart/2018/5/layout/IconCircleLabelList"/>
    <dgm:cxn modelId="{B4E56F45-4617-4925-A10A-D85F6BD074DE}" type="presParOf" srcId="{6535B7A4-0F65-4AF1-A68B-EDC038DB9E79}" destId="{8BAF76F3-3D3D-422C-9E0A-E45B0438A8B0}" srcOrd="1" destOrd="0" presId="urn:microsoft.com/office/officeart/2018/5/layout/IconCircleLabelList"/>
    <dgm:cxn modelId="{980B5E51-7478-441A-9A15-B481D4E9DFEF}" type="presParOf" srcId="{6535B7A4-0F65-4AF1-A68B-EDC038DB9E79}" destId="{7AD15730-7628-4326-B04B-EA60D4745053}" srcOrd="2" destOrd="0" presId="urn:microsoft.com/office/officeart/2018/5/layout/IconCircleLabelList"/>
    <dgm:cxn modelId="{A430274A-9986-4B7C-8068-A9E596A779EF}" type="presParOf" srcId="{7AD15730-7628-4326-B04B-EA60D4745053}" destId="{E0FD6297-341B-41F6-BD1C-FF75BDE4AD0D}" srcOrd="0" destOrd="0" presId="urn:microsoft.com/office/officeart/2018/5/layout/IconCircleLabelList"/>
    <dgm:cxn modelId="{824C36C8-9B71-4BDB-A60F-BFAFCB0E9639}" type="presParOf" srcId="{7AD15730-7628-4326-B04B-EA60D4745053}" destId="{D2B94692-ACDC-4BDF-9A6C-3775EF9427DB}" srcOrd="1" destOrd="0" presId="urn:microsoft.com/office/officeart/2018/5/layout/IconCircleLabelList"/>
    <dgm:cxn modelId="{F26ABECC-EA02-4CBA-BA71-9E2434D087BD}" type="presParOf" srcId="{7AD15730-7628-4326-B04B-EA60D4745053}" destId="{6BD62938-59E7-4F5A-8F8F-9797085EFF22}" srcOrd="2" destOrd="0" presId="urn:microsoft.com/office/officeart/2018/5/layout/IconCircleLabelList"/>
    <dgm:cxn modelId="{3801E381-CDA7-4ABF-9F2E-54EA0A06675E}" type="presParOf" srcId="{7AD15730-7628-4326-B04B-EA60D4745053}" destId="{2385ABCB-BB31-42AE-9927-6E73557495B2}" srcOrd="3" destOrd="0" presId="urn:microsoft.com/office/officeart/2018/5/layout/IconCircleLabelList"/>
    <dgm:cxn modelId="{56029B16-624A-491E-84E0-3E50F96D3C31}" type="presParOf" srcId="{6535B7A4-0F65-4AF1-A68B-EDC038DB9E79}" destId="{5B1C6F93-B0F8-4C28-B767-1BC702D55510}" srcOrd="3" destOrd="0" presId="urn:microsoft.com/office/officeart/2018/5/layout/IconCircleLabelList"/>
    <dgm:cxn modelId="{9D90B75D-DF49-483C-B14F-9844A5D407AF}" type="presParOf" srcId="{6535B7A4-0F65-4AF1-A68B-EDC038DB9E79}" destId="{799A80DD-B50C-4CB7-A7DA-8D180DE1E49E}" srcOrd="4" destOrd="0" presId="urn:microsoft.com/office/officeart/2018/5/layout/IconCircleLabelList"/>
    <dgm:cxn modelId="{CE48A84B-7CED-4F7E-872E-AD152F04A56E}" type="presParOf" srcId="{799A80DD-B50C-4CB7-A7DA-8D180DE1E49E}" destId="{D0E34700-0571-429E-B206-5C4D8728BF11}" srcOrd="0" destOrd="0" presId="urn:microsoft.com/office/officeart/2018/5/layout/IconCircleLabelList"/>
    <dgm:cxn modelId="{C41FC25C-BEB4-4ED8-9262-BA4052391552}" type="presParOf" srcId="{799A80DD-B50C-4CB7-A7DA-8D180DE1E49E}" destId="{0884D7AD-DE7C-47C0-AA2D-11592C523CE7}" srcOrd="1" destOrd="0" presId="urn:microsoft.com/office/officeart/2018/5/layout/IconCircleLabelList"/>
    <dgm:cxn modelId="{D9AEC499-1D09-4514-A93D-9CE5253589E2}" type="presParOf" srcId="{799A80DD-B50C-4CB7-A7DA-8D180DE1E49E}" destId="{795724D0-196B-4348-A9E7-0A8B26329DBB}" srcOrd="2" destOrd="0" presId="urn:microsoft.com/office/officeart/2018/5/layout/IconCircleLabelList"/>
    <dgm:cxn modelId="{2D44AD69-0EEC-4890-B54C-15BD876A417A}" type="presParOf" srcId="{799A80DD-B50C-4CB7-A7DA-8D180DE1E49E}" destId="{FFF1A151-8A47-4A83-812D-4B96AB83373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EB6035-C036-438A-844E-64066575EFE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9A8CBF6-6ED4-4B0E-B309-63398219E55D}">
      <dgm:prSet/>
      <dgm:spPr/>
      <dgm:t>
        <a:bodyPr/>
        <a:lstStyle/>
        <a:p>
          <a:r>
            <a:rPr lang="es-ES"/>
            <a:t>Simulador interactivo para experimentar con inversiones reales sin riesgo.</a:t>
          </a:r>
          <a:endParaRPr lang="en-US"/>
        </a:p>
      </dgm:t>
    </dgm:pt>
    <dgm:pt modelId="{AC37EE54-CBC7-428B-A2E2-1A8FF12FA2C6}" type="parTrans" cxnId="{E1A14563-B18B-430D-94F3-8F4C4B09102C}">
      <dgm:prSet/>
      <dgm:spPr/>
      <dgm:t>
        <a:bodyPr/>
        <a:lstStyle/>
        <a:p>
          <a:endParaRPr lang="en-US"/>
        </a:p>
      </dgm:t>
    </dgm:pt>
    <dgm:pt modelId="{D3174156-7F83-4863-A9FE-2C822207159D}" type="sibTrans" cxnId="{E1A14563-B18B-430D-94F3-8F4C4B09102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A044A1B-CA4A-45A5-8AA6-268781027716}">
      <dgm:prSet/>
      <dgm:spPr/>
      <dgm:t>
        <a:bodyPr/>
        <a:lstStyle/>
        <a:p>
          <a:r>
            <a:rPr lang="es-ES"/>
            <a:t>Permite elegir distintos índices bursátiles y periodos históricos.</a:t>
          </a:r>
          <a:endParaRPr lang="en-US"/>
        </a:p>
      </dgm:t>
    </dgm:pt>
    <dgm:pt modelId="{27C2D359-A831-4522-8366-FAE41C3ABD93}" type="parTrans" cxnId="{D35B3A56-1AF4-44B6-9361-EE5E09AAB8AA}">
      <dgm:prSet/>
      <dgm:spPr/>
      <dgm:t>
        <a:bodyPr/>
        <a:lstStyle/>
        <a:p>
          <a:endParaRPr lang="en-US"/>
        </a:p>
      </dgm:t>
    </dgm:pt>
    <dgm:pt modelId="{3FA0F4B6-A233-4572-AD92-51DE9192B0C6}" type="sibTrans" cxnId="{D35B3A56-1AF4-44B6-9361-EE5E09AAB8AA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CDED7920-A891-4333-9728-0707670EE24C}">
      <dgm:prSet/>
      <dgm:spPr/>
      <dgm:t>
        <a:bodyPr/>
        <a:lstStyle/>
        <a:p>
          <a:r>
            <a:rPr lang="es-ES"/>
            <a:t>Métricas que indiquen si es buen momento para comprar en ese índice.</a:t>
          </a:r>
          <a:endParaRPr lang="en-US"/>
        </a:p>
      </dgm:t>
    </dgm:pt>
    <dgm:pt modelId="{6141AC3D-9BF8-4004-93AE-3A2F363C4B89}" type="parTrans" cxnId="{F0BF3B4F-8747-40D5-A4FE-1BBF151886BD}">
      <dgm:prSet/>
      <dgm:spPr/>
      <dgm:t>
        <a:bodyPr/>
        <a:lstStyle/>
        <a:p>
          <a:endParaRPr lang="en-US"/>
        </a:p>
      </dgm:t>
    </dgm:pt>
    <dgm:pt modelId="{51221BDA-069A-41A4-9C4D-2B89B2325933}" type="sibTrans" cxnId="{F0BF3B4F-8747-40D5-A4FE-1BBF151886BD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23E0B670-8371-4E25-B59E-B591BDFEE197}">
      <dgm:prSet/>
      <dgm:spPr/>
      <dgm:t>
        <a:bodyPr/>
        <a:lstStyle/>
        <a:p>
          <a:r>
            <a:rPr lang="es-ES"/>
            <a:t>Predicciones y gráficos claros que facilitan la toma de decisiones.</a:t>
          </a:r>
          <a:endParaRPr lang="en-US"/>
        </a:p>
      </dgm:t>
    </dgm:pt>
    <dgm:pt modelId="{D3AC7D67-62AB-4F33-8DE6-7EABAEC7CD39}" type="parTrans" cxnId="{60867FC8-A7D4-42AF-B19D-D729D0861B84}">
      <dgm:prSet/>
      <dgm:spPr/>
      <dgm:t>
        <a:bodyPr/>
        <a:lstStyle/>
        <a:p>
          <a:endParaRPr lang="en-US"/>
        </a:p>
      </dgm:t>
    </dgm:pt>
    <dgm:pt modelId="{598397ED-19EC-45A3-9CBA-8AC649AAB19A}" type="sibTrans" cxnId="{60867FC8-A7D4-42AF-B19D-D729D0861B84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CBB4CD86-0E18-4779-AEDC-E87D62CF189D}" type="pres">
      <dgm:prSet presAssocID="{19EB6035-C036-438A-844E-64066575EFE6}" presName="Name0" presStyleCnt="0">
        <dgm:presLayoutVars>
          <dgm:animLvl val="lvl"/>
          <dgm:resizeHandles val="exact"/>
        </dgm:presLayoutVars>
      </dgm:prSet>
      <dgm:spPr/>
    </dgm:pt>
    <dgm:pt modelId="{0C99EBFD-5ECC-4C23-B3F2-046FA0AD31B8}" type="pres">
      <dgm:prSet presAssocID="{F9A8CBF6-6ED4-4B0E-B309-63398219E55D}" presName="compositeNode" presStyleCnt="0">
        <dgm:presLayoutVars>
          <dgm:bulletEnabled val="1"/>
        </dgm:presLayoutVars>
      </dgm:prSet>
      <dgm:spPr/>
    </dgm:pt>
    <dgm:pt modelId="{055CF505-C1BE-4E07-B705-A1AFC790DA7D}" type="pres">
      <dgm:prSet presAssocID="{F9A8CBF6-6ED4-4B0E-B309-63398219E55D}" presName="bgRect" presStyleLbl="alignNode1" presStyleIdx="0" presStyleCnt="4"/>
      <dgm:spPr/>
    </dgm:pt>
    <dgm:pt modelId="{3A58B39C-8C42-430A-842F-A6C1EDD24A7A}" type="pres">
      <dgm:prSet presAssocID="{D3174156-7F83-4863-A9FE-2C822207159D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25C4F239-3CFE-4443-8D1F-3EF4392B135D}" type="pres">
      <dgm:prSet presAssocID="{F9A8CBF6-6ED4-4B0E-B309-63398219E55D}" presName="nodeRect" presStyleLbl="alignNode1" presStyleIdx="0" presStyleCnt="4">
        <dgm:presLayoutVars>
          <dgm:bulletEnabled val="1"/>
        </dgm:presLayoutVars>
      </dgm:prSet>
      <dgm:spPr/>
    </dgm:pt>
    <dgm:pt modelId="{5CB965A6-A2F9-4936-A2A6-2CF0E9EE24AE}" type="pres">
      <dgm:prSet presAssocID="{D3174156-7F83-4863-A9FE-2C822207159D}" presName="sibTrans" presStyleCnt="0"/>
      <dgm:spPr/>
    </dgm:pt>
    <dgm:pt modelId="{EF4AFB89-8D86-4A25-AFA8-04EA53DBF893}" type="pres">
      <dgm:prSet presAssocID="{DA044A1B-CA4A-45A5-8AA6-268781027716}" presName="compositeNode" presStyleCnt="0">
        <dgm:presLayoutVars>
          <dgm:bulletEnabled val="1"/>
        </dgm:presLayoutVars>
      </dgm:prSet>
      <dgm:spPr/>
    </dgm:pt>
    <dgm:pt modelId="{F1A091EB-03A0-49F2-AA2A-D86586C509D3}" type="pres">
      <dgm:prSet presAssocID="{DA044A1B-CA4A-45A5-8AA6-268781027716}" presName="bgRect" presStyleLbl="alignNode1" presStyleIdx="1" presStyleCnt="4"/>
      <dgm:spPr/>
    </dgm:pt>
    <dgm:pt modelId="{FDCA5DD0-E730-439D-9EAB-D045B736B34D}" type="pres">
      <dgm:prSet presAssocID="{3FA0F4B6-A233-4572-AD92-51DE9192B0C6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FC06C2F4-8BF5-417E-86BE-26324EEF6488}" type="pres">
      <dgm:prSet presAssocID="{DA044A1B-CA4A-45A5-8AA6-268781027716}" presName="nodeRect" presStyleLbl="alignNode1" presStyleIdx="1" presStyleCnt="4">
        <dgm:presLayoutVars>
          <dgm:bulletEnabled val="1"/>
        </dgm:presLayoutVars>
      </dgm:prSet>
      <dgm:spPr/>
    </dgm:pt>
    <dgm:pt modelId="{D9EC8F6B-56F5-4C90-A9F2-AF64DB2596E9}" type="pres">
      <dgm:prSet presAssocID="{3FA0F4B6-A233-4572-AD92-51DE9192B0C6}" presName="sibTrans" presStyleCnt="0"/>
      <dgm:spPr/>
    </dgm:pt>
    <dgm:pt modelId="{90950ECF-8BA8-4035-A96A-16947AC90069}" type="pres">
      <dgm:prSet presAssocID="{CDED7920-A891-4333-9728-0707670EE24C}" presName="compositeNode" presStyleCnt="0">
        <dgm:presLayoutVars>
          <dgm:bulletEnabled val="1"/>
        </dgm:presLayoutVars>
      </dgm:prSet>
      <dgm:spPr/>
    </dgm:pt>
    <dgm:pt modelId="{46AA6A36-6EEE-4CAA-9441-45C9E613C253}" type="pres">
      <dgm:prSet presAssocID="{CDED7920-A891-4333-9728-0707670EE24C}" presName="bgRect" presStyleLbl="alignNode1" presStyleIdx="2" presStyleCnt="4"/>
      <dgm:spPr/>
    </dgm:pt>
    <dgm:pt modelId="{27C0F428-BF85-4E20-81A3-8BDF84F760E1}" type="pres">
      <dgm:prSet presAssocID="{51221BDA-069A-41A4-9C4D-2B89B232593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C71E8633-03EE-49D6-A1A1-DFBF61B77B25}" type="pres">
      <dgm:prSet presAssocID="{CDED7920-A891-4333-9728-0707670EE24C}" presName="nodeRect" presStyleLbl="alignNode1" presStyleIdx="2" presStyleCnt="4">
        <dgm:presLayoutVars>
          <dgm:bulletEnabled val="1"/>
        </dgm:presLayoutVars>
      </dgm:prSet>
      <dgm:spPr/>
    </dgm:pt>
    <dgm:pt modelId="{AF13F595-59A2-4B02-8EE7-AD166AE24554}" type="pres">
      <dgm:prSet presAssocID="{51221BDA-069A-41A4-9C4D-2B89B2325933}" presName="sibTrans" presStyleCnt="0"/>
      <dgm:spPr/>
    </dgm:pt>
    <dgm:pt modelId="{E5D7A78B-D12C-4C8E-A372-79CBEEB07127}" type="pres">
      <dgm:prSet presAssocID="{23E0B670-8371-4E25-B59E-B591BDFEE197}" presName="compositeNode" presStyleCnt="0">
        <dgm:presLayoutVars>
          <dgm:bulletEnabled val="1"/>
        </dgm:presLayoutVars>
      </dgm:prSet>
      <dgm:spPr/>
    </dgm:pt>
    <dgm:pt modelId="{0A25463A-7B28-4562-A488-A1C76BCA162A}" type="pres">
      <dgm:prSet presAssocID="{23E0B670-8371-4E25-B59E-B591BDFEE197}" presName="bgRect" presStyleLbl="alignNode1" presStyleIdx="3" presStyleCnt="4"/>
      <dgm:spPr/>
    </dgm:pt>
    <dgm:pt modelId="{65BA24E5-DDC1-4484-81DF-60AD3805FD81}" type="pres">
      <dgm:prSet presAssocID="{598397ED-19EC-45A3-9CBA-8AC649AAB19A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604ADB5-0C71-44A9-9421-1638BF2516A8}" type="pres">
      <dgm:prSet presAssocID="{23E0B670-8371-4E25-B59E-B591BDFEE197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58046D09-6AAC-4298-81C9-8643D04C0EF0}" type="presOf" srcId="{DA044A1B-CA4A-45A5-8AA6-268781027716}" destId="{F1A091EB-03A0-49F2-AA2A-D86586C509D3}" srcOrd="0" destOrd="0" presId="urn:microsoft.com/office/officeart/2016/7/layout/LinearBlockProcessNumbered"/>
    <dgm:cxn modelId="{3E3D861C-7979-478A-A30C-5EBFF2468B09}" type="presOf" srcId="{598397ED-19EC-45A3-9CBA-8AC649AAB19A}" destId="{65BA24E5-DDC1-4484-81DF-60AD3805FD81}" srcOrd="0" destOrd="0" presId="urn:microsoft.com/office/officeart/2016/7/layout/LinearBlockProcessNumbered"/>
    <dgm:cxn modelId="{2EB9A55C-F22A-433F-9A8A-87DF23A13F8A}" type="presOf" srcId="{23E0B670-8371-4E25-B59E-B591BDFEE197}" destId="{9604ADB5-0C71-44A9-9421-1638BF2516A8}" srcOrd="1" destOrd="0" presId="urn:microsoft.com/office/officeart/2016/7/layout/LinearBlockProcessNumbered"/>
    <dgm:cxn modelId="{E1A14563-B18B-430D-94F3-8F4C4B09102C}" srcId="{19EB6035-C036-438A-844E-64066575EFE6}" destId="{F9A8CBF6-6ED4-4B0E-B309-63398219E55D}" srcOrd="0" destOrd="0" parTransId="{AC37EE54-CBC7-428B-A2E2-1A8FF12FA2C6}" sibTransId="{D3174156-7F83-4863-A9FE-2C822207159D}"/>
    <dgm:cxn modelId="{B0280445-0957-404D-B7E4-3B6A259311A5}" type="presOf" srcId="{51221BDA-069A-41A4-9C4D-2B89B2325933}" destId="{27C0F428-BF85-4E20-81A3-8BDF84F760E1}" srcOrd="0" destOrd="0" presId="urn:microsoft.com/office/officeart/2016/7/layout/LinearBlockProcessNumbered"/>
    <dgm:cxn modelId="{2FD12D68-8216-4B01-98DF-47974F87D89B}" type="presOf" srcId="{3FA0F4B6-A233-4572-AD92-51DE9192B0C6}" destId="{FDCA5DD0-E730-439D-9EAB-D045B736B34D}" srcOrd="0" destOrd="0" presId="urn:microsoft.com/office/officeart/2016/7/layout/LinearBlockProcessNumbered"/>
    <dgm:cxn modelId="{39DAE44A-DB74-401C-9983-C956DD20DF34}" type="presOf" srcId="{F9A8CBF6-6ED4-4B0E-B309-63398219E55D}" destId="{25C4F239-3CFE-4443-8D1F-3EF4392B135D}" srcOrd="1" destOrd="0" presId="urn:microsoft.com/office/officeart/2016/7/layout/LinearBlockProcessNumbered"/>
    <dgm:cxn modelId="{F0BF3B4F-8747-40D5-A4FE-1BBF151886BD}" srcId="{19EB6035-C036-438A-844E-64066575EFE6}" destId="{CDED7920-A891-4333-9728-0707670EE24C}" srcOrd="2" destOrd="0" parTransId="{6141AC3D-9BF8-4004-93AE-3A2F363C4B89}" sibTransId="{51221BDA-069A-41A4-9C4D-2B89B2325933}"/>
    <dgm:cxn modelId="{E4E58072-B2D9-426D-9487-8DE6BA83B682}" type="presOf" srcId="{D3174156-7F83-4863-A9FE-2C822207159D}" destId="{3A58B39C-8C42-430A-842F-A6C1EDD24A7A}" srcOrd="0" destOrd="0" presId="urn:microsoft.com/office/officeart/2016/7/layout/LinearBlockProcessNumbered"/>
    <dgm:cxn modelId="{D35B3A56-1AF4-44B6-9361-EE5E09AAB8AA}" srcId="{19EB6035-C036-438A-844E-64066575EFE6}" destId="{DA044A1B-CA4A-45A5-8AA6-268781027716}" srcOrd="1" destOrd="0" parTransId="{27C2D359-A831-4522-8366-FAE41C3ABD93}" sibTransId="{3FA0F4B6-A233-4572-AD92-51DE9192B0C6}"/>
    <dgm:cxn modelId="{B7A37883-3510-4951-8F1B-15F286612986}" type="presOf" srcId="{19EB6035-C036-438A-844E-64066575EFE6}" destId="{CBB4CD86-0E18-4779-AEDC-E87D62CF189D}" srcOrd="0" destOrd="0" presId="urn:microsoft.com/office/officeart/2016/7/layout/LinearBlockProcessNumbered"/>
    <dgm:cxn modelId="{70BEDA8A-AB4B-4E7C-B4A1-DC6D36156921}" type="presOf" srcId="{DA044A1B-CA4A-45A5-8AA6-268781027716}" destId="{FC06C2F4-8BF5-417E-86BE-26324EEF6488}" srcOrd="1" destOrd="0" presId="urn:microsoft.com/office/officeart/2016/7/layout/LinearBlockProcessNumbered"/>
    <dgm:cxn modelId="{DD412C9F-CE72-439A-A450-B125AD1F6216}" type="presOf" srcId="{CDED7920-A891-4333-9728-0707670EE24C}" destId="{C71E8633-03EE-49D6-A1A1-DFBF61B77B25}" srcOrd="1" destOrd="0" presId="urn:microsoft.com/office/officeart/2016/7/layout/LinearBlockProcessNumbered"/>
    <dgm:cxn modelId="{29E389C2-6E35-4332-B1B9-AD5D0BD72993}" type="presOf" srcId="{23E0B670-8371-4E25-B59E-B591BDFEE197}" destId="{0A25463A-7B28-4562-A488-A1C76BCA162A}" srcOrd="0" destOrd="0" presId="urn:microsoft.com/office/officeart/2016/7/layout/LinearBlockProcessNumbered"/>
    <dgm:cxn modelId="{60867FC8-A7D4-42AF-B19D-D729D0861B84}" srcId="{19EB6035-C036-438A-844E-64066575EFE6}" destId="{23E0B670-8371-4E25-B59E-B591BDFEE197}" srcOrd="3" destOrd="0" parTransId="{D3AC7D67-62AB-4F33-8DE6-7EABAEC7CD39}" sibTransId="{598397ED-19EC-45A3-9CBA-8AC649AAB19A}"/>
    <dgm:cxn modelId="{D9A138DB-737D-4121-A0FD-FAC19861540A}" type="presOf" srcId="{CDED7920-A891-4333-9728-0707670EE24C}" destId="{46AA6A36-6EEE-4CAA-9441-45C9E613C253}" srcOrd="0" destOrd="0" presId="urn:microsoft.com/office/officeart/2016/7/layout/LinearBlockProcessNumbered"/>
    <dgm:cxn modelId="{5FC841E6-E5E2-46C0-8302-88D36F67E13D}" type="presOf" srcId="{F9A8CBF6-6ED4-4B0E-B309-63398219E55D}" destId="{055CF505-C1BE-4E07-B705-A1AFC790DA7D}" srcOrd="0" destOrd="0" presId="urn:microsoft.com/office/officeart/2016/7/layout/LinearBlockProcessNumbered"/>
    <dgm:cxn modelId="{5CC9B73B-498C-48E1-B230-0496EF9FABF8}" type="presParOf" srcId="{CBB4CD86-0E18-4779-AEDC-E87D62CF189D}" destId="{0C99EBFD-5ECC-4C23-B3F2-046FA0AD31B8}" srcOrd="0" destOrd="0" presId="urn:microsoft.com/office/officeart/2016/7/layout/LinearBlockProcessNumbered"/>
    <dgm:cxn modelId="{E8202AB3-7433-44A4-821D-D632A329591B}" type="presParOf" srcId="{0C99EBFD-5ECC-4C23-B3F2-046FA0AD31B8}" destId="{055CF505-C1BE-4E07-B705-A1AFC790DA7D}" srcOrd="0" destOrd="0" presId="urn:microsoft.com/office/officeart/2016/7/layout/LinearBlockProcessNumbered"/>
    <dgm:cxn modelId="{20AE038D-FD92-41BC-BC80-686C6CF4DC30}" type="presParOf" srcId="{0C99EBFD-5ECC-4C23-B3F2-046FA0AD31B8}" destId="{3A58B39C-8C42-430A-842F-A6C1EDD24A7A}" srcOrd="1" destOrd="0" presId="urn:microsoft.com/office/officeart/2016/7/layout/LinearBlockProcessNumbered"/>
    <dgm:cxn modelId="{B6148739-0E42-4E1A-B448-03FF6EABFB63}" type="presParOf" srcId="{0C99EBFD-5ECC-4C23-B3F2-046FA0AD31B8}" destId="{25C4F239-3CFE-4443-8D1F-3EF4392B135D}" srcOrd="2" destOrd="0" presId="urn:microsoft.com/office/officeart/2016/7/layout/LinearBlockProcessNumbered"/>
    <dgm:cxn modelId="{9FE2775C-322C-4689-8A3C-86330A175589}" type="presParOf" srcId="{CBB4CD86-0E18-4779-AEDC-E87D62CF189D}" destId="{5CB965A6-A2F9-4936-A2A6-2CF0E9EE24AE}" srcOrd="1" destOrd="0" presId="urn:microsoft.com/office/officeart/2016/7/layout/LinearBlockProcessNumbered"/>
    <dgm:cxn modelId="{D38A4396-D15D-40CA-9CA1-CAE3D66D6592}" type="presParOf" srcId="{CBB4CD86-0E18-4779-AEDC-E87D62CF189D}" destId="{EF4AFB89-8D86-4A25-AFA8-04EA53DBF893}" srcOrd="2" destOrd="0" presId="urn:microsoft.com/office/officeart/2016/7/layout/LinearBlockProcessNumbered"/>
    <dgm:cxn modelId="{5756FE08-742F-4AB9-A46A-070EED5789A1}" type="presParOf" srcId="{EF4AFB89-8D86-4A25-AFA8-04EA53DBF893}" destId="{F1A091EB-03A0-49F2-AA2A-D86586C509D3}" srcOrd="0" destOrd="0" presId="urn:microsoft.com/office/officeart/2016/7/layout/LinearBlockProcessNumbered"/>
    <dgm:cxn modelId="{09398AE8-F680-4AC9-AAB6-DF2FDB2B1AF2}" type="presParOf" srcId="{EF4AFB89-8D86-4A25-AFA8-04EA53DBF893}" destId="{FDCA5DD0-E730-439D-9EAB-D045B736B34D}" srcOrd="1" destOrd="0" presId="urn:microsoft.com/office/officeart/2016/7/layout/LinearBlockProcessNumbered"/>
    <dgm:cxn modelId="{50A3E5F5-6892-4F06-B93B-B545DC034203}" type="presParOf" srcId="{EF4AFB89-8D86-4A25-AFA8-04EA53DBF893}" destId="{FC06C2F4-8BF5-417E-86BE-26324EEF6488}" srcOrd="2" destOrd="0" presId="urn:microsoft.com/office/officeart/2016/7/layout/LinearBlockProcessNumbered"/>
    <dgm:cxn modelId="{8DCCECCD-A1EE-4722-9058-BEE6D6FACB6A}" type="presParOf" srcId="{CBB4CD86-0E18-4779-AEDC-E87D62CF189D}" destId="{D9EC8F6B-56F5-4C90-A9F2-AF64DB2596E9}" srcOrd="3" destOrd="0" presId="urn:microsoft.com/office/officeart/2016/7/layout/LinearBlockProcessNumbered"/>
    <dgm:cxn modelId="{5EE35EAB-73FB-45C3-A25B-A4CC7F2E34A6}" type="presParOf" srcId="{CBB4CD86-0E18-4779-AEDC-E87D62CF189D}" destId="{90950ECF-8BA8-4035-A96A-16947AC90069}" srcOrd="4" destOrd="0" presId="urn:microsoft.com/office/officeart/2016/7/layout/LinearBlockProcessNumbered"/>
    <dgm:cxn modelId="{BCFF17BD-5C97-432D-9C07-AA8B09BEF66E}" type="presParOf" srcId="{90950ECF-8BA8-4035-A96A-16947AC90069}" destId="{46AA6A36-6EEE-4CAA-9441-45C9E613C253}" srcOrd="0" destOrd="0" presId="urn:microsoft.com/office/officeart/2016/7/layout/LinearBlockProcessNumbered"/>
    <dgm:cxn modelId="{699A7A70-9E66-4A31-B238-CD63710FC382}" type="presParOf" srcId="{90950ECF-8BA8-4035-A96A-16947AC90069}" destId="{27C0F428-BF85-4E20-81A3-8BDF84F760E1}" srcOrd="1" destOrd="0" presId="urn:microsoft.com/office/officeart/2016/7/layout/LinearBlockProcessNumbered"/>
    <dgm:cxn modelId="{69CE4694-0147-441A-8B87-16CE57EA09BD}" type="presParOf" srcId="{90950ECF-8BA8-4035-A96A-16947AC90069}" destId="{C71E8633-03EE-49D6-A1A1-DFBF61B77B25}" srcOrd="2" destOrd="0" presId="urn:microsoft.com/office/officeart/2016/7/layout/LinearBlockProcessNumbered"/>
    <dgm:cxn modelId="{65EB1A2D-5031-4876-B0BC-F0E3ACE90699}" type="presParOf" srcId="{CBB4CD86-0E18-4779-AEDC-E87D62CF189D}" destId="{AF13F595-59A2-4B02-8EE7-AD166AE24554}" srcOrd="5" destOrd="0" presId="urn:microsoft.com/office/officeart/2016/7/layout/LinearBlockProcessNumbered"/>
    <dgm:cxn modelId="{515DDCC5-1157-4CC1-B604-19DFFF2CA83A}" type="presParOf" srcId="{CBB4CD86-0E18-4779-AEDC-E87D62CF189D}" destId="{E5D7A78B-D12C-4C8E-A372-79CBEEB07127}" srcOrd="6" destOrd="0" presId="urn:microsoft.com/office/officeart/2016/7/layout/LinearBlockProcessNumbered"/>
    <dgm:cxn modelId="{9E3C4C5D-A37C-4DAF-A217-654E64E66EB7}" type="presParOf" srcId="{E5D7A78B-D12C-4C8E-A372-79CBEEB07127}" destId="{0A25463A-7B28-4562-A488-A1C76BCA162A}" srcOrd="0" destOrd="0" presId="urn:microsoft.com/office/officeart/2016/7/layout/LinearBlockProcessNumbered"/>
    <dgm:cxn modelId="{B63CBE6D-B12C-4B18-B340-8BEDECF2FA8D}" type="presParOf" srcId="{E5D7A78B-D12C-4C8E-A372-79CBEEB07127}" destId="{65BA24E5-DDC1-4484-81DF-60AD3805FD81}" srcOrd="1" destOrd="0" presId="urn:microsoft.com/office/officeart/2016/7/layout/LinearBlockProcessNumbered"/>
    <dgm:cxn modelId="{3C4729CA-8EC1-40ED-830E-570F949EF4BF}" type="presParOf" srcId="{E5D7A78B-D12C-4C8E-A372-79CBEEB07127}" destId="{9604ADB5-0C71-44A9-9421-1638BF2516A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85F011-0E4A-471D-BF08-4A73FE5F99DD}">
      <dsp:nvSpPr>
        <dsp:cNvPr id="0" name=""/>
        <dsp:cNvSpPr/>
      </dsp:nvSpPr>
      <dsp:spPr>
        <a:xfrm>
          <a:off x="683632" y="490086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81ECB-1D75-4C3A-967D-CF4EB5DC0F01}">
      <dsp:nvSpPr>
        <dsp:cNvPr id="0" name=""/>
        <dsp:cNvSpPr/>
      </dsp:nvSpPr>
      <dsp:spPr>
        <a:xfrm>
          <a:off x="1093132" y="899586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FD24-0919-4A92-AEBF-D22336EBA20A}">
      <dsp:nvSpPr>
        <dsp:cNvPr id="0" name=""/>
        <dsp:cNvSpPr/>
      </dsp:nvSpPr>
      <dsp:spPr>
        <a:xfrm>
          <a:off x="69382" y="3010087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Solo 32% de los españoles afirman tener conocimientos para invertir vs 50% en Europa</a:t>
          </a:r>
          <a:endParaRPr lang="en-US" sz="1100" kern="1200"/>
        </a:p>
      </dsp:txBody>
      <dsp:txXfrm>
        <a:off x="69382" y="3010087"/>
        <a:ext cx="3150000" cy="720000"/>
      </dsp:txXfrm>
    </dsp:sp>
    <dsp:sp modelId="{E0FD6297-341B-41F6-BD1C-FF75BDE4AD0D}">
      <dsp:nvSpPr>
        <dsp:cNvPr id="0" name=""/>
        <dsp:cNvSpPr/>
      </dsp:nvSpPr>
      <dsp:spPr>
        <a:xfrm>
          <a:off x="4384882" y="490086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94692-ACDC-4BDF-9A6C-3775EF9427DB}">
      <dsp:nvSpPr>
        <dsp:cNvPr id="0" name=""/>
        <dsp:cNvSpPr/>
      </dsp:nvSpPr>
      <dsp:spPr>
        <a:xfrm>
          <a:off x="4794382" y="899586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5ABCB-BB31-42AE-9927-6E73557495B2}">
      <dsp:nvSpPr>
        <dsp:cNvPr id="0" name=""/>
        <dsp:cNvSpPr/>
      </dsp:nvSpPr>
      <dsp:spPr>
        <a:xfrm>
          <a:off x="3770632" y="3010087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12,5% invierte en bolsa</a:t>
          </a:r>
          <a:endParaRPr lang="en-US" sz="1100" kern="1200"/>
        </a:p>
      </dsp:txBody>
      <dsp:txXfrm>
        <a:off x="3770632" y="3010087"/>
        <a:ext cx="3150000" cy="720000"/>
      </dsp:txXfrm>
    </dsp:sp>
    <dsp:sp modelId="{D0E34700-0571-429E-B206-5C4D8728BF11}">
      <dsp:nvSpPr>
        <dsp:cNvPr id="0" name=""/>
        <dsp:cNvSpPr/>
      </dsp:nvSpPr>
      <dsp:spPr>
        <a:xfrm>
          <a:off x="8086132" y="490086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84D7AD-DE7C-47C0-AA2D-11592C523CE7}">
      <dsp:nvSpPr>
        <dsp:cNvPr id="0" name=""/>
        <dsp:cNvSpPr/>
      </dsp:nvSpPr>
      <dsp:spPr>
        <a:xfrm>
          <a:off x="8495632" y="899586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1A151-8A47-4A83-812D-4B96AB83373A}">
      <dsp:nvSpPr>
        <dsp:cNvPr id="0" name=""/>
        <dsp:cNvSpPr/>
      </dsp:nvSpPr>
      <dsp:spPr>
        <a:xfrm>
          <a:off x="7471882" y="3010087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&gt;60% de los inversores españoles no puede distinguir entre productos financieros ni estructurar una cartera eficiente (CNMV)</a:t>
          </a:r>
          <a:endParaRPr lang="en-US" sz="1100" kern="1200"/>
        </a:p>
      </dsp:txBody>
      <dsp:txXfrm>
        <a:off x="7471882" y="3010087"/>
        <a:ext cx="315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CF505-C1BE-4E07-B705-A1AFC790DA7D}">
      <dsp:nvSpPr>
        <dsp:cNvPr id="0" name=""/>
        <dsp:cNvSpPr/>
      </dsp:nvSpPr>
      <dsp:spPr>
        <a:xfrm>
          <a:off x="207" y="424640"/>
          <a:ext cx="2506953" cy="30083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Simulador interactivo para experimentar con inversiones reales sin riesgo.</a:t>
          </a:r>
          <a:endParaRPr lang="en-US" sz="2200" kern="1200"/>
        </a:p>
      </dsp:txBody>
      <dsp:txXfrm>
        <a:off x="207" y="1627978"/>
        <a:ext cx="2506953" cy="1805006"/>
      </dsp:txXfrm>
    </dsp:sp>
    <dsp:sp modelId="{3A58B39C-8C42-430A-842F-A6C1EDD24A7A}">
      <dsp:nvSpPr>
        <dsp:cNvPr id="0" name=""/>
        <dsp:cNvSpPr/>
      </dsp:nvSpPr>
      <dsp:spPr>
        <a:xfrm>
          <a:off x="207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07" y="424640"/>
        <a:ext cx="2506953" cy="1203337"/>
      </dsp:txXfrm>
    </dsp:sp>
    <dsp:sp modelId="{F1A091EB-03A0-49F2-AA2A-D86586C509D3}">
      <dsp:nvSpPr>
        <dsp:cNvPr id="0" name=""/>
        <dsp:cNvSpPr/>
      </dsp:nvSpPr>
      <dsp:spPr>
        <a:xfrm>
          <a:off x="2707717" y="424640"/>
          <a:ext cx="2506953" cy="30083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Permite elegir distintos índices bursátiles y periodos históricos.</a:t>
          </a:r>
          <a:endParaRPr lang="en-US" sz="2200" kern="1200"/>
        </a:p>
      </dsp:txBody>
      <dsp:txXfrm>
        <a:off x="2707717" y="1627978"/>
        <a:ext cx="2506953" cy="1805006"/>
      </dsp:txXfrm>
    </dsp:sp>
    <dsp:sp modelId="{FDCA5DD0-E730-439D-9EAB-D045B736B34D}">
      <dsp:nvSpPr>
        <dsp:cNvPr id="0" name=""/>
        <dsp:cNvSpPr/>
      </dsp:nvSpPr>
      <dsp:spPr>
        <a:xfrm>
          <a:off x="2707717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707717" y="424640"/>
        <a:ext cx="2506953" cy="1203337"/>
      </dsp:txXfrm>
    </dsp:sp>
    <dsp:sp modelId="{46AA6A36-6EEE-4CAA-9441-45C9E613C253}">
      <dsp:nvSpPr>
        <dsp:cNvPr id="0" name=""/>
        <dsp:cNvSpPr/>
      </dsp:nvSpPr>
      <dsp:spPr>
        <a:xfrm>
          <a:off x="5415228" y="424640"/>
          <a:ext cx="2506953" cy="30083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Métricas que indiquen si es buen momento para comprar en ese índice.</a:t>
          </a:r>
          <a:endParaRPr lang="en-US" sz="2200" kern="1200"/>
        </a:p>
      </dsp:txBody>
      <dsp:txXfrm>
        <a:off x="5415228" y="1627978"/>
        <a:ext cx="2506953" cy="1805006"/>
      </dsp:txXfrm>
    </dsp:sp>
    <dsp:sp modelId="{27C0F428-BF85-4E20-81A3-8BDF84F760E1}">
      <dsp:nvSpPr>
        <dsp:cNvPr id="0" name=""/>
        <dsp:cNvSpPr/>
      </dsp:nvSpPr>
      <dsp:spPr>
        <a:xfrm>
          <a:off x="5415228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415228" y="424640"/>
        <a:ext cx="2506953" cy="1203337"/>
      </dsp:txXfrm>
    </dsp:sp>
    <dsp:sp modelId="{0A25463A-7B28-4562-A488-A1C76BCA162A}">
      <dsp:nvSpPr>
        <dsp:cNvPr id="0" name=""/>
        <dsp:cNvSpPr/>
      </dsp:nvSpPr>
      <dsp:spPr>
        <a:xfrm>
          <a:off x="8122738" y="424640"/>
          <a:ext cx="2506953" cy="30083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Predicciones y gráficos claros que facilitan la toma de decisiones.</a:t>
          </a:r>
          <a:endParaRPr lang="en-US" sz="2200" kern="1200"/>
        </a:p>
      </dsp:txBody>
      <dsp:txXfrm>
        <a:off x="8122738" y="1627978"/>
        <a:ext cx="2506953" cy="1805006"/>
      </dsp:txXfrm>
    </dsp:sp>
    <dsp:sp modelId="{65BA24E5-DDC1-4484-81DF-60AD3805FD81}">
      <dsp:nvSpPr>
        <dsp:cNvPr id="0" name=""/>
        <dsp:cNvSpPr/>
      </dsp:nvSpPr>
      <dsp:spPr>
        <a:xfrm>
          <a:off x="8122738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122738" y="424640"/>
        <a:ext cx="2506953" cy="1203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6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1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13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0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08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0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97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47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4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5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70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Stock Market Bar Graph">
            <a:extLst>
              <a:ext uri="{FF2B5EF4-FFF2-40B4-BE49-F238E27FC236}">
                <a16:creationId xmlns:a16="http://schemas.microsoft.com/office/drawing/2014/main" id="{3F759425-EC9D-48D5-76C2-A30FD6639A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946B9-BFE4-0C24-707F-F1C34FA7D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7" y="871759"/>
            <a:ext cx="6600227" cy="3497042"/>
          </a:xfrm>
        </p:spPr>
        <p:txBody>
          <a:bodyPr anchor="t">
            <a:normAutofit/>
          </a:bodyPr>
          <a:lstStyle/>
          <a:p>
            <a:r>
              <a:rPr lang="es-ES" dirty="0"/>
              <a:t>Simulador de Inversión en Índices Bursátiles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9B901-B55B-B17C-7E87-EA8195714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2304" y="5881584"/>
            <a:ext cx="5019676" cy="976406"/>
          </a:xfrm>
        </p:spPr>
        <p:txBody>
          <a:bodyPr anchor="t"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Ignacio Sanz -Noviembre 2025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485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10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C7C1-6768-98A5-F2F3-1A74EA2CE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Problema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7E33B2-FF2D-7902-2720-567327C84E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1741714"/>
          <a:ext cx="10691265" cy="4220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104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F1F37-7014-6598-F0EE-676DDA3F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s-ES"/>
              <a:t>Solución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07BDFA-1818-D691-4876-38A3FDD27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584865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438756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102</Words>
  <Application>Microsoft Office PowerPoint</Application>
  <PresentationFormat>Widescreen</PresentationFormat>
  <Paragraphs>15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Calisto MT</vt:lpstr>
      <vt:lpstr>Univers Condensed</vt:lpstr>
      <vt:lpstr>ChronicleVTI</vt:lpstr>
      <vt:lpstr>Simulador de Inversión en Índices Bursátiles</vt:lpstr>
      <vt:lpstr>Problema</vt:lpstr>
      <vt:lpstr>Solución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Sanz Barro</dc:creator>
  <cp:lastModifiedBy>Ignacio Sanz Barro</cp:lastModifiedBy>
  <cp:revision>1</cp:revision>
  <dcterms:created xsi:type="dcterms:W3CDTF">2025-11-26T19:04:15Z</dcterms:created>
  <dcterms:modified xsi:type="dcterms:W3CDTF">2025-11-26T19:17:56Z</dcterms:modified>
</cp:coreProperties>
</file>